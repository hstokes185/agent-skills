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A59595-F931-B0DA-E276-CF5CE4394D1C}" name="Bronwyn Clark" initials="BC" userId="S::bronwyn.clark@said.oxford.edu::35e896a7-ee31-408f-9afd-114e0f6fcba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147"/>
    <a:srgbClr val="FFD100"/>
    <a:srgbClr val="E9E3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3E7302-34F6-E1CF-E816-CC70FD204B34}" v="148" dt="2026-06-02T18:28:32.540"/>
    <p1510:client id="{A72B8C49-53E6-ED16-E5D3-F639850EA52D}" v="31" dt="2026-06-01T11:58:58.279"/>
    <p1510:client id="{C6E222E3-CAB5-2D20-4C98-057EAAAEAC32}" v="14" dt="2026-06-01T12:16:54.2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6D532D-E90A-459A-A009-B608A2E5D76C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53ECE2-5567-4E53-93CA-D194763204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605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60FB0C1E-4BD0-FBD8-5BFE-2F9BAB23E9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7019" y="400398"/>
            <a:ext cx="2257425" cy="1076325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B58781C-D3D2-30EE-704F-E41CC52F3D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5950" y="2353117"/>
            <a:ext cx="6743700" cy="2807217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E53CE0A-26D3-C846-CEB3-09CEBAE43F76}"/>
              </a:ext>
            </a:extLst>
          </p:cNvPr>
          <p:cNvSpPr/>
          <p:nvPr userDrawn="1"/>
        </p:nvSpPr>
        <p:spPr>
          <a:xfrm>
            <a:off x="8614319" y="0"/>
            <a:ext cx="3577681" cy="6858000"/>
          </a:xfrm>
          <a:custGeom>
            <a:avLst/>
            <a:gdLst>
              <a:gd name="csX0" fmla="*/ 2888458 w 3577681"/>
              <a:gd name="csY0" fmla="*/ 0 h 6858000"/>
              <a:gd name="csX1" fmla="*/ 3577681 w 3577681"/>
              <a:gd name="csY1" fmla="*/ 0 h 6858000"/>
              <a:gd name="csX2" fmla="*/ 3577681 w 3577681"/>
              <a:gd name="csY2" fmla="*/ 6858000 h 6858000"/>
              <a:gd name="csX3" fmla="*/ 2888469 w 3577681"/>
              <a:gd name="csY3" fmla="*/ 6858000 h 6858000"/>
              <a:gd name="csX4" fmla="*/ 2778746 w 3577681"/>
              <a:gd name="csY4" fmla="*/ 6838406 h 6858000"/>
              <a:gd name="csX5" fmla="*/ 0 w 3577681"/>
              <a:gd name="csY5" fmla="*/ 3428999 h 6858000"/>
              <a:gd name="csX6" fmla="*/ 2778746 w 3577681"/>
              <a:gd name="csY6" fmla="*/ 1959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577681" h="6858000">
                <a:moveTo>
                  <a:pt x="2888458" y="0"/>
                </a:moveTo>
                <a:lnTo>
                  <a:pt x="3577681" y="0"/>
                </a:lnTo>
                <a:lnTo>
                  <a:pt x="3577681" y="6858000"/>
                </a:lnTo>
                <a:lnTo>
                  <a:pt x="2888469" y="6858000"/>
                </a:lnTo>
                <a:lnTo>
                  <a:pt x="2778746" y="6838406"/>
                </a:lnTo>
                <a:cubicBezTo>
                  <a:pt x="1192919" y="6513899"/>
                  <a:pt x="0" y="5110760"/>
                  <a:pt x="0" y="3428999"/>
                </a:cubicBezTo>
                <a:cubicBezTo>
                  <a:pt x="0" y="1747239"/>
                  <a:pt x="1192919" y="344100"/>
                  <a:pt x="2778746" y="19593"/>
                </a:cubicBezTo>
                <a:close/>
              </a:path>
            </a:pathLst>
          </a:custGeom>
          <a:solidFill>
            <a:srgbClr val="FFD100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6691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985DCF3-5432-A940-A622-5F8F074930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8438" y="496187"/>
            <a:ext cx="2649537" cy="1254642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214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E69CEA2-F5C5-AE09-2145-31054DE8C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8438" y="1849438"/>
            <a:ext cx="2644775" cy="4586287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002147"/>
                </a:solidFill>
              </a:defRPr>
            </a:lvl1pPr>
            <a:lvl2pPr>
              <a:defRPr sz="1800">
                <a:solidFill>
                  <a:srgbClr val="002147"/>
                </a:solidFill>
              </a:defRPr>
            </a:lvl2pPr>
            <a:lvl3pPr>
              <a:defRPr sz="1600">
                <a:solidFill>
                  <a:srgbClr val="002147"/>
                </a:solidFill>
              </a:defRPr>
            </a:lvl3pPr>
            <a:lvl4pPr>
              <a:defRPr sz="1400">
                <a:solidFill>
                  <a:srgbClr val="002147"/>
                </a:solidFill>
              </a:defRPr>
            </a:lvl4pPr>
            <a:lvl5pPr>
              <a:defRPr sz="1400">
                <a:solidFill>
                  <a:srgbClr val="00214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95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6638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21EF6A-CAEE-CE2E-799F-3C5E86EBA8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4867" y="2585950"/>
            <a:ext cx="5579533" cy="2807217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GB" b="0">
                <a:latin typeface="Arial"/>
                <a:cs typeface="Arial"/>
              </a:rPr>
              <a:t>Agentic AI Business Case </a:t>
            </a:r>
            <a:endParaRPr lang="en-GB"/>
          </a:p>
          <a:p>
            <a:pPr marL="0" indent="0">
              <a:buNone/>
            </a:pPr>
            <a:r>
              <a:rPr lang="en-GB" b="0">
                <a:latin typeface="Arial"/>
                <a:cs typeface="Arial"/>
              </a:rPr>
              <a:t>&amp; Design Proposal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612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DDFF7E-CAAB-D15D-E8F7-6DC72F36C144}"/>
              </a:ext>
            </a:extLst>
          </p:cNvPr>
          <p:cNvSpPr/>
          <p:nvPr/>
        </p:nvSpPr>
        <p:spPr>
          <a:xfrm>
            <a:off x="4760" y="2379"/>
            <a:ext cx="3050976" cy="6866484"/>
          </a:xfrm>
          <a:prstGeom prst="rect">
            <a:avLst/>
          </a:prstGeom>
          <a:solidFill>
            <a:srgbClr val="0021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CFBD65B-98AA-8EED-6069-2AC7CDBCE1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GB">
                <a:solidFill>
                  <a:schemeClr val="bg1"/>
                </a:solidFill>
              </a:rPr>
              <a:t>How to use this template</a:t>
            </a:r>
            <a:endParaRPr lang="en-GB">
              <a:solidFill>
                <a:schemeClr val="bg1"/>
              </a:solidFill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8DCC3-96BF-CFDF-CAB9-958F53BC8C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26854" y="935038"/>
            <a:ext cx="7848282" cy="4586287"/>
          </a:xfrm>
        </p:spPr>
        <p:txBody>
          <a:bodyPr lIns="91440" tIns="45720" rIns="91440" bIns="45720" anchor="t"/>
          <a:lstStyle/>
          <a:p>
            <a:pPr>
              <a:spcBef>
                <a:spcPts val="1800"/>
              </a:spcBef>
            </a:pPr>
            <a:r>
              <a:rPr lang="en-GB">
                <a:latin typeface="Arial"/>
                <a:cs typeface="Arial"/>
              </a:rPr>
              <a:t>This template is designed to help you complete the final assessment for the </a:t>
            </a:r>
            <a:r>
              <a:rPr lang="en-GB" b="1" i="1">
                <a:latin typeface="Arial"/>
                <a:cs typeface="Arial"/>
              </a:rPr>
              <a:t>Generative and Agentic AI </a:t>
            </a:r>
            <a:r>
              <a:rPr lang="en-GB">
                <a:latin typeface="Arial"/>
                <a:cs typeface="Arial"/>
              </a:rPr>
              <a:t>programme.</a:t>
            </a:r>
          </a:p>
          <a:p>
            <a:pPr>
              <a:spcBef>
                <a:spcPts val="1800"/>
              </a:spcBef>
            </a:pPr>
            <a:r>
              <a:rPr lang="en-GB">
                <a:ea typeface="+mn-lt"/>
                <a:cs typeface="+mn-lt"/>
              </a:rPr>
              <a:t>For this assignment, you will develop a business case and high-level design proposal for an AI agent or agentic system that could be implemented within an organisational context of your choice.</a:t>
            </a:r>
          </a:p>
          <a:p>
            <a:pPr>
              <a:spcBef>
                <a:spcPts val="1800"/>
              </a:spcBef>
            </a:pPr>
            <a:r>
              <a:rPr lang="en-GB">
                <a:ea typeface="+mn-lt"/>
                <a:cs typeface="+mn-lt"/>
              </a:rPr>
              <a:t>Use the template to structure your proposal. The slides are organised around the five core components of the assignment and include prompts to guide your analysis.</a:t>
            </a:r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800"/>
              </a:spcBef>
            </a:pPr>
            <a:r>
              <a:rPr lang="en-GB" dirty="0">
                <a:ea typeface="+mn-lt"/>
                <a:cs typeface="+mn-lt"/>
              </a:rPr>
              <a:t>Your completed submission should be approximately 8–12 slides in length.</a:t>
            </a:r>
          </a:p>
          <a:p>
            <a:pPr>
              <a:spcBef>
                <a:spcPts val="1800"/>
              </a:spcBef>
            </a:pPr>
            <a:r>
              <a:rPr lang="en-GB">
                <a:ea typeface="+mn-lt"/>
                <a:cs typeface="+mn-lt"/>
              </a:rPr>
              <a:t>You may adapt the layout, visuals, and slide design as needed, provided all required sections are addressed.</a:t>
            </a:r>
          </a:p>
        </p:txBody>
      </p:sp>
    </p:spTree>
    <p:extLst>
      <p:ext uri="{BB962C8B-B14F-4D97-AF65-F5344CB8AC3E}">
        <p14:creationId xmlns:p14="http://schemas.microsoft.com/office/powerpoint/2010/main" val="951432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8FFFC4-8FC3-1DD3-C027-15C9F15EF5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GB">
                <a:ea typeface="+mn-lt"/>
                <a:cs typeface="+mn-lt"/>
              </a:rPr>
              <a:t>Context &amp; problem definition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5ABE1-CF3A-8922-027A-7AE750D0AF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8438" y="1714500"/>
            <a:ext cx="2644775" cy="4586287"/>
          </a:xfrm>
        </p:spPr>
        <p:txBody>
          <a:bodyPr lIns="91440" tIns="45720" rIns="91440" bIns="45720" anchor="t"/>
          <a:lstStyle/>
          <a:p>
            <a:pPr marL="0" indent="0" fontAlgn="base">
              <a:buFont typeface="Arial"/>
              <a:buChar char="•"/>
            </a:pPr>
            <a:endParaRPr lang="en-GB" sz="1400" dirty="0">
              <a:latin typeface="Arial"/>
              <a:cs typeface="Arial"/>
            </a:endParaRPr>
          </a:p>
          <a:p>
            <a:r>
              <a:rPr lang="en-GB" sz="1400">
                <a:latin typeface="Arial"/>
                <a:cs typeface="Arial"/>
              </a:rPr>
              <a:t>What specific operational bottleneck, business problem, or market opportunity is the proposed agentic system intended to address?</a:t>
            </a:r>
            <a:endParaRPr lang="en-GB">
              <a:cs typeface="Arial" panose="020B0604020202020204"/>
            </a:endParaRPr>
          </a:p>
          <a:p>
            <a:r>
              <a:rPr lang="en-GB" sz="1400">
                <a:latin typeface="Arial"/>
                <a:cs typeface="Arial"/>
              </a:rPr>
              <a:t>Which exact workflows, data streams, or human tasks will the agent augment, support, or fully automate?</a:t>
            </a:r>
          </a:p>
          <a:p>
            <a:r>
              <a:rPr lang="en-GB" sz="1400">
                <a:latin typeface="Arial"/>
                <a:cs typeface="Arial"/>
              </a:rPr>
              <a:t>Who are the primary stakeholders interacting with the system, and how will their daily operational roles change post-deployment?</a:t>
            </a:r>
          </a:p>
          <a:p>
            <a:pPr marL="285750" indent="-285750"/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600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830770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1270D2-3AE6-ADEF-3A25-7896C0F12E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GB"/>
              <a:t>Strategic justification </a:t>
            </a:r>
            <a:endParaRPr lang="en-GB"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A86A9-2C44-5742-9EC2-00B7198A10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1622" y="1462216"/>
            <a:ext cx="2644775" cy="4586287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endParaRPr lang="en-GB" sz="1400" dirty="0">
              <a:cs typeface="Arial"/>
            </a:endParaRPr>
          </a:p>
          <a:p>
            <a:r>
              <a:rPr lang="en-GB" sz="1400">
                <a:ea typeface="+mn-lt"/>
                <a:cs typeface="+mn-lt"/>
              </a:rPr>
              <a:t>Why is an autonomous agentic system the correct technological choice for this problem or opportunity, as opposed to traditional software or baseline generative AI prompting?</a:t>
            </a:r>
          </a:p>
          <a:p>
            <a:r>
              <a:rPr lang="en-GB" sz="1400">
                <a:ea typeface="+mn-lt"/>
                <a:cs typeface="+mn-lt"/>
              </a:rPr>
              <a:t>What technical, operational, or organisational limitations may constrain the overall effectiveness of the proposed system?</a:t>
            </a:r>
          </a:p>
          <a:p>
            <a:r>
              <a:rPr lang="en-GB" sz="1400">
                <a:ea typeface="+mn-lt"/>
                <a:cs typeface="+mn-lt"/>
              </a:rPr>
              <a:t>To what extent will this agentic system be perceived as desirable, trustworthy, and useful by the active workforce?</a:t>
            </a:r>
          </a:p>
        </p:txBody>
      </p:sp>
    </p:spTree>
    <p:extLst>
      <p:ext uri="{BB962C8B-B14F-4D97-AF65-F5344CB8AC3E}">
        <p14:creationId xmlns:p14="http://schemas.microsoft.com/office/powerpoint/2010/main" val="918208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3019217-17C5-463D-722C-03AD183D52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GB"/>
              <a:t>Financial rationale &amp; value creation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27810-6683-40FA-8C6B-E8FFDB412C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/>
          <a:lstStyle/>
          <a:p>
            <a:pPr fontAlgn="base"/>
            <a:r>
              <a:rPr lang="en-US" sz="1400" dirty="0">
                <a:ea typeface="+mn-lt"/>
                <a:cs typeface="+mn-lt"/>
              </a:rPr>
              <a:t>How will the proposed agentic system create or capture tangible value for the </a:t>
            </a:r>
            <a:r>
              <a:rPr lang="en-US" sz="1400" dirty="0" err="1">
                <a:ea typeface="+mn-lt"/>
                <a:cs typeface="+mn-lt"/>
              </a:rPr>
              <a:t>organisation</a:t>
            </a:r>
            <a:r>
              <a:rPr lang="en-US" sz="1400" dirty="0">
                <a:ea typeface="+mn-lt"/>
                <a:cs typeface="+mn-lt"/>
              </a:rPr>
              <a:t>?</a:t>
            </a:r>
          </a:p>
          <a:p>
            <a:r>
              <a:rPr lang="en-US" sz="1400" dirty="0">
                <a:ea typeface="+mn-lt"/>
                <a:cs typeface="+mn-lt"/>
              </a:rPr>
              <a:t>Where are the primary financial and operational benefits explicitly derived from (e.g. direct cost reduction, productivity gains, net revenue growth, or </a:t>
            </a:r>
            <a:r>
              <a:rPr lang="en-US" sz="1400" dirty="0" err="1">
                <a:ea typeface="+mn-lt"/>
                <a:cs typeface="+mn-lt"/>
              </a:rPr>
              <a:t>optimised</a:t>
            </a:r>
            <a:r>
              <a:rPr lang="en-US" sz="1400" dirty="0">
                <a:ea typeface="+mn-lt"/>
                <a:cs typeface="+mn-lt"/>
              </a:rPr>
              <a:t> client service outcomes)?</a:t>
            </a:r>
            <a:endParaRPr lang="en-US" sz="1400" dirty="0">
              <a:cs typeface="Arial"/>
            </a:endParaRPr>
          </a:p>
          <a:p>
            <a:r>
              <a:rPr lang="en-US" sz="1400" dirty="0">
                <a:ea typeface="+mn-lt"/>
                <a:cs typeface="+mn-lt"/>
              </a:rPr>
              <a:t>What are the projected upfront costs, ongoing investments, and wider </a:t>
            </a:r>
            <a:r>
              <a:rPr lang="en-US" sz="1400" dirty="0" err="1">
                <a:ea typeface="+mn-lt"/>
                <a:cs typeface="+mn-lt"/>
              </a:rPr>
              <a:t>organisational</a:t>
            </a:r>
            <a:r>
              <a:rPr lang="en-US" sz="1400" dirty="0">
                <a:ea typeface="+mn-lt"/>
                <a:cs typeface="+mn-lt"/>
              </a:rPr>
              <a:t> resource commitments required to implement, maintain, and operate the system safely?</a:t>
            </a:r>
          </a:p>
          <a:p>
            <a:r>
              <a:rPr lang="en-US" sz="1400" dirty="0">
                <a:ea typeface="+mn-lt"/>
                <a:cs typeface="+mn-lt"/>
              </a:rPr>
              <a:t>To what extent do these expected benefits explicitly outweigh the anticipated costs and operational risks?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7063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4843C1-95EC-498F-82C3-6455C131E4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8438" y="496187"/>
            <a:ext cx="2869344" cy="1232662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GB">
                <a:ea typeface="+mn-lt"/>
                <a:cs typeface="+mn-lt"/>
              </a:rPr>
              <a:t>High-level system design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8D341-B1BA-DEC4-E654-77D9E5E8C4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8438" y="1424477"/>
            <a:ext cx="2644775" cy="5011248"/>
          </a:xfrm>
        </p:spPr>
        <p:txBody>
          <a:bodyPr lIns="91440" tIns="45720" rIns="91440" bIns="45720" anchor="t"/>
          <a:lstStyle/>
          <a:p>
            <a:r>
              <a:rPr lang="en-GB" sz="1400" dirty="0">
                <a:ea typeface="+mn-lt"/>
                <a:cs typeface="+mn-lt"/>
              </a:rPr>
              <a:t>What is the agent’s core operational mandate, target goal, and intended final outcome?</a:t>
            </a:r>
          </a:p>
          <a:p>
            <a:r>
              <a:rPr lang="en-GB" sz="1400">
                <a:ea typeface="+mn-lt"/>
                <a:cs typeface="+mn-lt"/>
              </a:rPr>
              <a:t>Map out the complete end-to-end workflow, explicitly documenting the system triggers, key processing nodes, decision logic, external tool integrations, and final outputs.</a:t>
            </a:r>
            <a:endParaRPr lang="en-GB" sz="1400">
              <a:cs typeface="Arial"/>
            </a:endParaRPr>
          </a:p>
          <a:p>
            <a:r>
              <a:rPr lang="en-GB" sz="1400">
                <a:ea typeface="+mn-lt"/>
                <a:cs typeface="+mn-lt"/>
              </a:rPr>
              <a:t>At what exact financial, logical, or risk thresholds is a human-in-the-loop review, approval, or escalation mechanism hardcoded into the process?</a:t>
            </a:r>
          </a:p>
          <a:p>
            <a:r>
              <a:rPr lang="en-GB" sz="1400">
                <a:ea typeface="+mn-lt"/>
                <a:cs typeface="+mn-lt"/>
              </a:rPr>
              <a:t>What specific databases, legacy enterprise software platforms, and external third-party APIs will the agent require authenticated access to?</a:t>
            </a:r>
          </a:p>
          <a:p>
            <a:endParaRPr lang="en-GB" sz="1200" dirty="0">
              <a:solidFill>
                <a:srgbClr val="211D1C"/>
              </a:solidFill>
              <a:highlight>
                <a:srgbClr val="EFEFEF"/>
              </a:highlight>
              <a:latin typeface="Open Sans"/>
              <a:ea typeface="Open Sans"/>
              <a:cs typeface="Open Sans"/>
            </a:endParaRPr>
          </a:p>
          <a:p>
            <a:endParaRPr lang="en-GB" sz="1200" dirty="0">
              <a:solidFill>
                <a:srgbClr val="211D1C"/>
              </a:solidFill>
              <a:highlight>
                <a:srgbClr val="EFEFEF"/>
              </a:highlight>
              <a:latin typeface="Open Sans"/>
              <a:ea typeface="Open Sans"/>
              <a:cs typeface="Open Sans"/>
            </a:endParaRPr>
          </a:p>
          <a:p>
            <a:endParaRPr lang="en-GB" sz="1400" dirty="0">
              <a:cs typeface="Arial"/>
            </a:endParaRPr>
          </a:p>
          <a:p>
            <a:endParaRPr lang="en-GB" sz="1400" dirty="0">
              <a:cs typeface="Arial"/>
            </a:endParaRPr>
          </a:p>
          <a:p>
            <a:endParaRPr lang="en-GB" sz="1600">
              <a:cs typeface="Arial" panose="020B0604020202020204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A1F6356-B081-D439-1638-DBF6B81A1336}"/>
              </a:ext>
            </a:extLst>
          </p:cNvPr>
          <p:cNvSpPr txBox="1">
            <a:spLocks/>
          </p:cNvSpPr>
          <p:nvPr/>
        </p:nvSpPr>
        <p:spPr>
          <a:xfrm>
            <a:off x="3201011" y="6273435"/>
            <a:ext cx="7165486" cy="501124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2147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2147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147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2147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2147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100" b="1">
                <a:ea typeface="+mn-lt"/>
                <a:cs typeface="+mn-lt"/>
              </a:rPr>
              <a:t>Note: </a:t>
            </a:r>
            <a:r>
              <a:rPr lang="en-GB" sz="1100">
                <a:ea typeface="+mn-lt"/>
                <a:cs typeface="+mn-lt"/>
              </a:rPr>
              <a:t>You are strongly encouraged to include a clear workflow diagram to illustrate how the agent dynamically interacts with human users, data sources, external tools, parallel systems, or peer agents (A2A).</a:t>
            </a:r>
            <a:endParaRPr lang="en-GB" sz="1100" dirty="0">
              <a:ea typeface="+mn-lt"/>
              <a:cs typeface="+mn-lt"/>
            </a:endParaRPr>
          </a:p>
          <a:p>
            <a:endParaRPr lang="en-GB" sz="1100" dirty="0">
              <a:ea typeface="+mn-lt"/>
              <a:cs typeface="+mn-lt"/>
            </a:endParaRPr>
          </a:p>
          <a:p>
            <a:endParaRPr lang="en-GB" sz="1100" dirty="0">
              <a:ea typeface="+mn-lt"/>
              <a:cs typeface="+mn-lt"/>
            </a:endParaRPr>
          </a:p>
          <a:p>
            <a:endParaRPr lang="en-GB" sz="1100" dirty="0">
              <a:ea typeface="+mn-lt"/>
              <a:cs typeface="+mn-lt"/>
            </a:endParaRPr>
          </a:p>
          <a:p>
            <a:endParaRPr lang="en-GB" sz="1100" dirty="0">
              <a:ea typeface="+mn-lt"/>
              <a:cs typeface="+mn-lt"/>
            </a:endParaRPr>
          </a:p>
          <a:p>
            <a:endParaRPr lang="en-GB" sz="1600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48961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992DF5-0FE0-7428-A899-5B0731200E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8438" y="496187"/>
            <a:ext cx="2752113" cy="1232662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GB" dirty="0"/>
              <a:t>Risk assessment </a:t>
            </a:r>
            <a:r>
              <a:rPr lang="en-GB"/>
              <a:t>&amp;</a:t>
            </a:r>
            <a:r>
              <a:rPr lang="en-GB" dirty="0"/>
              <a:t> governance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1D476-04CD-816F-F79B-0E76A6DBAA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/>
          <a:lstStyle/>
          <a:p>
            <a:r>
              <a:rPr lang="en-GB" sz="1400" dirty="0">
                <a:ea typeface="+mn-lt"/>
                <a:cs typeface="+mn-lt"/>
              </a:rPr>
              <a:t>Identify the primary operational, ethical, cyber security (e.g. instruction injection), regulatory, or reputational risks associated with this deployment.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400">
                <a:ea typeface="+mn-lt"/>
                <a:cs typeface="+mn-lt"/>
              </a:rPr>
              <a:t>What precise technical governance mechanisms, behavioural guardrails, sandbox testing protocols, or oversight processes will be deployed to mitigate these risks?</a:t>
            </a:r>
            <a:endParaRPr lang="en-GB" sz="1400"/>
          </a:p>
          <a:p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4260241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787D447C3448449F3546FF9BEC2A56" ma:contentTypeVersion="7" ma:contentTypeDescription="Create a new document." ma:contentTypeScope="" ma:versionID="657389cb12f269f84d4b1f338dc51984">
  <xsd:schema xmlns:xsd="http://www.w3.org/2001/XMLSchema" xmlns:xs="http://www.w3.org/2001/XMLSchema" xmlns:p="http://schemas.microsoft.com/office/2006/metadata/properties" xmlns:ns2="315e636f-4937-4b28-a865-d4ad25037eed" targetNamespace="http://schemas.microsoft.com/office/2006/metadata/properties" ma:root="true" ma:fieldsID="b7e9d51c14335ed9c486065da5248a24" ns2:_="">
    <xsd:import namespace="315e636f-4937-4b28-a865-d4ad25037e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5e636f-4937-4b28-a865-d4ad25037e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0D0355E-D16C-4C14-8B02-A49712A5C43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F34F0BD-855D-46C4-8F61-9A8A078FC2C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46B06A-13FD-4BD4-908D-3D2539FD4CD0}">
  <ds:schemaRefs>
    <ds:schemaRef ds:uri="315e636f-4937-4b28-a865-d4ad25037ee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 Clough</dc:creator>
  <cp:revision>73</cp:revision>
  <dcterms:created xsi:type="dcterms:W3CDTF">2026-05-29T10:32:30Z</dcterms:created>
  <dcterms:modified xsi:type="dcterms:W3CDTF">2026-06-02T19:22:17Z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0x0101006D787D447C3448449F3546FF9BEC2A56</vt:lpwstr>
  </property>
</Properties>
</file>